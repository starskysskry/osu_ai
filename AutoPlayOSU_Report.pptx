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66AA"/>
                </a:solidFill>
                <a:latin typeface="Microsoft JhengHei"/>
              </a:defRPr>
            </a:pPr>
            <a:r>
              <a:t>AutoPlayOSU!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JhengHei"/>
              </a:defRPr>
            </a:pPr>
            <a:r>
              <a:t>本次進度報告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17520" cy="36576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Microsoft JhengHei"/>
              </a:defRPr>
            </a:pPr>
            <a:r>
              <a:t>2026 年 2 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1828800" cy="411480"/>
          </a:xfrm>
          <a:prstGeom prst="roundRect">
            <a:avLst>
              <a:gd name="adj" fmla="val 30000"/>
            </a:avLst>
          </a:prstGeom>
          <a:solidFill>
            <a:srgbClr val="22223A"/>
          </a:solidFill>
          <a:ln w="1270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6BBFF"/>
                </a:solidFill>
                <a:latin typeface="Microsoft JhengHei"/>
              </a:defRPr>
            </a:pPr>
            <a:r>
              <a:t>OOM 修復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029200"/>
            <a:ext cx="1828800" cy="411480"/>
          </a:xfrm>
          <a:prstGeom prst="roundRect">
            <a:avLst>
              <a:gd name="adj" fmla="val 30000"/>
            </a:avLst>
          </a:prstGeom>
          <a:solidFill>
            <a:srgbClr val="22223A"/>
          </a:solidFill>
          <a:ln w="1270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6BBFF"/>
                </a:solidFill>
                <a:latin typeface="Microsoft JhengHei"/>
              </a:defRPr>
            </a:pPr>
            <a:r>
              <a:t>分模型 Lookahead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5029200"/>
            <a:ext cx="1828800" cy="411480"/>
          </a:xfrm>
          <a:prstGeom prst="roundRect">
            <a:avLst>
              <a:gd name="adj" fmla="val 30000"/>
            </a:avLst>
          </a:prstGeom>
          <a:solidFill>
            <a:srgbClr val="22223A"/>
          </a:solidFill>
          <a:ln w="1270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6BBFF"/>
                </a:solidFill>
                <a:latin typeface="Microsoft JhengHei"/>
              </a:defRPr>
            </a:pPr>
            <a:r>
              <a:t>雙模型推理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5029200"/>
            <a:ext cx="1828800" cy="411480"/>
          </a:xfrm>
          <a:prstGeom prst="roundRect">
            <a:avLst>
              <a:gd name="adj" fmla="val 30000"/>
            </a:avLst>
          </a:prstGeom>
          <a:solidFill>
            <a:srgbClr val="22223A"/>
          </a:solidFill>
          <a:ln w="1270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6BBFF"/>
                </a:solidFill>
                <a:latin typeface="Microsoft JhengHei"/>
              </a:defRPr>
            </a:pPr>
            <a:r>
              <a:t>訓練問題排查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上次回顧 → 本次目標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AAABB"/>
                </a:solidFill>
                <a:latin typeface="Microsoft JhengHei"/>
              </a:defRPr>
            </a:pPr>
            <a:r>
              <a:t>上次進度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GPU 加速 (CPU → GPU 推理)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DXcam 高速截圖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TensorRT 模型量化 (FP16)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移除 FPS 限制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解析度匹配 (1080p)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修復座標雙重歸一化 bug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✅ 修復平均值回歸問題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AA"/>
                </a:solidFill>
                <a:latin typeface="Microsoft JhengHei"/>
              </a:defRPr>
            </a:pPr>
            <a:r>
              <a:t>本次要解決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🔴 訓練時記憶體不足 (OOM 崩潰)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🔴 Actions 模型準確率只有 56%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🔴 Combined 模型按鍵幾乎不作用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🔴 雙模型推理 FPS 大幅下降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🔴 訓練與實際遊戲表現有落差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FF"/>
                </a:solidFill>
                <a:latin typeface="Microsoft JhengHei"/>
              </a:defRPr>
            </a:pPr>
            <a:r>
              <a:t>系統流程提醒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212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BBFF"/>
                </a:solidFill>
                <a:latin typeface="Microsoft JhengHei"/>
              </a:defRPr>
            </a:pPr>
            <a:r>
              <a:t>遊戲畫面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A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5212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A44"/>
                </a:solidFill>
                <a:latin typeface="Microsoft JhengHei"/>
              </a:defRPr>
            </a:pPr>
            <a:r>
              <a:t>螢幕截圖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A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212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影像處理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A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212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FF99"/>
                </a:solidFill>
                <a:latin typeface="Microsoft JhengHei"/>
              </a:defRPr>
            </a:pPr>
            <a:r>
              <a:t>AI 推理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A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5212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9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AA"/>
                </a:solidFill>
                <a:latin typeface="Microsoft JhengHei"/>
              </a:defRPr>
            </a:pPr>
            <a:r>
              <a:t>動作執行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修復 ① 記憶體不足 (OOM)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66"/>
                </a:solidFill>
                <a:latin typeface="Microsoft JhengHei"/>
              </a:defRPr>
            </a:pPr>
            <a:r>
              <a:t>💥 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np.concatenate 把所有資料集合併成一個大陣列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56,789 個 (10, 60, 80) 的影格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→ 需要 5~10 GB 連續記憶體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→ ArrayMemoryError 崩潰，無法訓練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FF99"/>
                </a:solidFill>
                <a:latin typeface="Microsoft JhengHei"/>
              </a:defRPr>
            </a:pPr>
            <a:r>
              <a:t>✅ 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OsuLazyDataset — 懶加載架構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只存索引，__getitem__ 時才讀取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完全不合併大陣列（零額外記憶體）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即時轉 float16 (192KB → 96KB/幀)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640080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FF"/>
                </a:solidFill>
                <a:latin typeface="Microsoft JhengHei"/>
              </a:defRPr>
            </a:pPr>
            <a:r>
              <a:t>技術細節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1. 分塊存儲：每個 dataset 保持獨立的 numpy 陣列（chunk）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2. 累積索引：O(1) 查找任意全局索引對應的 chunk + 本地索引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3. 增量陣列建立：np.empty 預分配 + 逐幀填入 + 逐幀釋放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4. 索引過採樣：RandomOverSampler 只複製索引，不複製圖像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114800"/>
            <a:ext cx="3749039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FF99"/>
                </a:solidFill>
                <a:latin typeface="Microsoft JhengHei"/>
              </a:defRPr>
            </a:pPr>
            <a:r>
              <a:t>📊 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JhengHei"/>
              </a:defRPr>
            </a:pPr>
            <a:r>
              <a:t>記憶體使用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66"/>
                </a:solidFill>
                <a:latin typeface="Microsoft JhengHei"/>
              </a:defRPr>
            </a:pPr>
            <a:r>
              <a:t>10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49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A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FF99"/>
                </a:solidFill>
                <a:latin typeface="Microsoft JhengHei"/>
              </a:defRPr>
            </a:pPr>
            <a:r>
              <a:t>2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✅ 訓練不再崩潰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修復 ② 分模型 Lookahead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66"/>
                </a:solidFill>
                <a:latin typeface="Microsoft JhengHei"/>
              </a:defRPr>
            </a:pPr>
            <a:r>
              <a:t>💥 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所有模型都用 lookahead=6 (預測 200ms 後)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Aim 沒問題（滑鼠移動連續可預測）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但 Actions 模型只有 56% 準確率！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按鍵是瞬間事件，200ms 太遠了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FF99"/>
                </a:solidFill>
                <a:latin typeface="Microsoft JhengHei"/>
              </a:defRPr>
            </a:pPr>
            <a:r>
              <a:t>✅ 解法：因地制宜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每種模型使用最適合的 lookahead：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Lookahead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FF"/>
                </a:solidFill>
                <a:latin typeface="Microsoft JhengHei"/>
              </a:defRPr>
            </a:pPr>
            <a:r>
              <a:t>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6 幀 (~200ms)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JhengHei"/>
              </a:defRPr>
            </a:pPr>
            <a:r>
              <a:t>連續移動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FF99"/>
                </a:solidFill>
                <a:latin typeface="Microsoft JhengHei"/>
              </a:defRPr>
            </a:pPr>
            <a:r>
              <a:t>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2 幀 (~67ms)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JhengHei"/>
              </a:defRPr>
            </a:pPr>
            <a:r>
              <a:t>瞬間事件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44"/>
                </a:solidFill>
                <a:latin typeface="Microsoft JhengHei"/>
              </a:defRPr>
            </a:pPr>
            <a:r>
              <a:t>Combined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3 幀 (~100ms)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JhengHei"/>
              </a:defRPr>
            </a:pPr>
            <a:r>
              <a:t>折衷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10515600" cy="27432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FF"/>
                </a:solidFill>
                <a:latin typeface="Microsoft JhengHei"/>
              </a:defRPr>
            </a:pPr>
            <a:r>
              <a:t>Lookahead 原理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把圖像和標籤錯開，讓模型學習「預測未來」以補償推理延遲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FF"/>
                </a:solidFill>
                <a:latin typeface="Microsoft JhengHei"/>
              </a:defRPr>
            </a:pPr>
            <a:r>
              <a:t>圖像 (輸入)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FF99"/>
                </a:solidFill>
                <a:latin typeface="Microsoft JhengHei"/>
              </a:defRPr>
            </a:pPr>
            <a:r>
              <a:t>標籤 (目標)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55"/>
                </a:solidFill>
              </a:defRPr>
            </a:pPr>
            <a:r>
              <a:t>t2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55"/>
                </a:solidFill>
              </a:defRPr>
            </a:pPr>
            <a:r>
              <a:t>t3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  <a:r>
              <a:t>t4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  <a:r>
              <a:t>t5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  <a:r>
              <a:t>t6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BBFF"/>
                </a:solidFill>
              </a:defRPr>
            </a:pPr>
            <a:r>
              <a:t>t5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  <a:r>
              <a:t>t7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55"/>
                </a:solidFill>
              </a:defRPr>
            </a:pPr>
            <a:r>
              <a:t>t6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9144000" y="507492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55"/>
                </a:solidFill>
              </a:defRPr>
            </a:pPr>
            <a:r>
              <a:t>t7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440680"/>
            <a:ext cx="731520" cy="320040"/>
          </a:xfrm>
          <a:prstGeom prst="roundRect">
            <a:avLst>
              <a:gd name="adj" fmla="val 20000"/>
            </a:avLst>
          </a:prstGeom>
          <a:solidFill>
            <a:srgbClr val="22223A"/>
          </a:solidFill>
          <a:ln w="19050">
            <a:solidFill>
              <a:srgbClr val="66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FF99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27432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JhengHei"/>
              </a:defRPr>
            </a:pPr>
            <a:r>
              <a:t>↑ lookahead=2 時：用 t0 的圖像學習 t2 的操作（預測 67ms 後）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55"/>
                </a:solidFill>
                <a:latin typeface="Microsoft JhengHei"/>
              </a:defRPr>
            </a:pPr>
            <a:r>
              <a:t>💡 快取檔名加入 lookahead 值（la2-dataset1.npz vs la6-dataset1.npz），不同設定互不覆蓋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修復 ③ 雙模型推理優化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66"/>
                </a:solidFill>
                <a:latin typeface="Microsoft JhengHei"/>
              </a:defRPr>
            </a:pPr>
            <a:r>
              <a:t>💥 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同時跑 Aim + Actions 兩個模型時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AA44"/>
                </a:solidFill>
                <a:latin typeface="Microsoft JhengHei"/>
              </a:defRPr>
            </a:pPr>
            <a:r>
              <a:t>兩個線程各自呼叫 mss.grab() 截圖</a:t>
            </a:r>
          </a:p>
          <a:p>
            <a:pPr>
              <a:spcAft>
                <a:spcPts val="600"/>
              </a:spcAft>
              <a:defRPr sz="1500">
                <a:solidFill>
                  <a:srgbClr val="FFAA44"/>
                </a:solidFill>
                <a:latin typeface="Microsoft JhengHei"/>
              </a:defRPr>
            </a:pPr>
            <a:r>
              <a:t>搶同一個 DWM 資源 → 互相拖慢</a:t>
            </a:r>
          </a:p>
          <a:p>
            <a:pPr>
              <a:spcAft>
                <a:spcPts val="600"/>
              </a:spcAft>
              <a:defRPr sz="1500">
                <a:solidFill>
                  <a:srgbClr val="FFAA44"/>
                </a:solidFill>
                <a:latin typeface="Microsoft JhengHei"/>
              </a:defRPr>
            </a:pPr>
            <a:r>
              <a:t>FPS 從 29 暴跌到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FF99"/>
                </a:solidFill>
                <a:latin typeface="Microsoft JhengHei"/>
              </a:defRPr>
            </a:pPr>
            <a:r>
              <a:t>✅ 解法：DualEvalThread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一個線程統一截圖，序列跑兩個模型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6FF99"/>
                </a:solidFill>
                <a:latin typeface="Microsoft JhengHei"/>
              </a:defRPr>
            </a:pPr>
            <a:r>
              <a:t>一次 mss.grab() 共用同一張截圖</a:t>
            </a:r>
          </a:p>
          <a:p>
            <a:pPr>
              <a:spcAft>
                <a:spcPts val="600"/>
              </a:spcAft>
              <a:defRPr sz="1500">
                <a:solidFill>
                  <a:srgbClr val="66FF99"/>
                </a:solidFill>
                <a:latin typeface="Microsoft JhengHei"/>
              </a:defRPr>
            </a:pPr>
            <a:r>
              <a:t>Aim 推理 → Actions 推理（序列執行）</a:t>
            </a:r>
          </a:p>
          <a:p>
            <a:pPr>
              <a:spcAft>
                <a:spcPts val="600"/>
              </a:spcAft>
              <a:defRPr sz="1500">
                <a:solidFill>
                  <a:srgbClr val="66FF99"/>
                </a:solidFill>
                <a:latin typeface="Microsoft JhengHei"/>
              </a:defRPr>
            </a:pPr>
            <a:r>
              <a:t>FPS 提升到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029200" cy="28346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JhengHei"/>
              </a:defRPr>
            </a:pPr>
            <a:r>
              <a:t>Before：兩線程搶資源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AimThread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526280"/>
            <a:ext cx="2743200" cy="320040"/>
          </a:xfrm>
          <a:prstGeom prst="roundRect">
            <a:avLst>
              <a:gd name="adj" fmla="val 30000"/>
            </a:avLst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mss.grab() 30ms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AimThread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983480"/>
            <a:ext cx="457200" cy="320040"/>
          </a:xfrm>
          <a:prstGeom prst="roundRect">
            <a:avLst>
              <a:gd name="adj" fmla="val 30000"/>
            </a:avLst>
          </a:prstGeom>
          <a:solidFill>
            <a:srgbClr val="66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Aim推理 4ms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ActionsThread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5440680"/>
            <a:ext cx="2743200" cy="320040"/>
          </a:xfrm>
          <a:prstGeom prst="roundRect">
            <a:avLst>
              <a:gd name="adj" fmla="val 30000"/>
            </a:avLst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mss.grab() 30ms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ActionsThread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5897880"/>
            <a:ext cx="457200" cy="320040"/>
          </a:xfrm>
          <a:prstGeom prst="roundRect">
            <a:avLst>
              <a:gd name="adj" fmla="val 30000"/>
            </a:avLst>
          </a:prstGeom>
          <a:solidFill>
            <a:srgbClr val="66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Actions推理 4ms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66"/>
                </a:solidFill>
                <a:latin typeface="Microsoft JhengHei"/>
              </a:defRPr>
            </a:pPr>
            <a:r>
              <a:t>兩次截圖 = 60ms 浪費 → 19 FPS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5029200" cy="28346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FF99"/>
                </a:solidFill>
                <a:latin typeface="Microsoft JhengHei"/>
              </a:defRPr>
            </a:pPr>
            <a:r>
              <a:t>After：共用截圖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DualThread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526280"/>
            <a:ext cx="2743200" cy="320040"/>
          </a:xfrm>
          <a:prstGeom prst="roundRect">
            <a:avLst>
              <a:gd name="adj" fmla="val 30000"/>
            </a:avLst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mss.grab() 30ms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DualThread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983480"/>
            <a:ext cx="457200" cy="320040"/>
          </a:xfrm>
          <a:prstGeom prst="roundRect">
            <a:avLst>
              <a:gd name="adj" fmla="val 30000"/>
            </a:avLst>
          </a:prstGeom>
          <a:solidFill>
            <a:srgbClr val="66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Aim推理 4ms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DualThread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440680"/>
            <a:ext cx="457200" cy="320040"/>
          </a:xfrm>
          <a:prstGeom prst="roundRect">
            <a:avLst>
              <a:gd name="adj" fmla="val 30000"/>
            </a:avLst>
          </a:prstGeom>
          <a:solidFill>
            <a:srgbClr val="66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Actions推理 4ms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onsolas"/>
              </a:defRPr>
            </a:pPr>
            <a:r>
              <a:t>DualThread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5897880"/>
            <a:ext cx="731520" cy="320040"/>
          </a:xfrm>
          <a:prstGeom prst="roundRect">
            <a:avLst>
              <a:gd name="adj" fmla="val 30000"/>
            </a:avLst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numpy處理 8ms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FF99"/>
                </a:solidFill>
                <a:latin typeface="Microsoft JhengHei"/>
              </a:defRPr>
            </a:pPr>
            <a:r>
              <a:t>一次截圖 = 46ms → 21 FPS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訓練結果與問題分析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FF"/>
                </a:solidFill>
                <a:latin typeface="Microsoft JhengHei"/>
              </a:defRPr>
            </a:pPr>
            <a:r>
              <a:t>訓練結果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訓練 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驗證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JhengHei"/>
              </a:defRPr>
            </a:pPr>
            <a:r>
              <a:t>狀態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377440"/>
            <a:ext cx="9601200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FF99"/>
                </a:solidFill>
                <a:latin typeface="Microsoft JhengHei"/>
              </a:defRPr>
            </a:pPr>
            <a:r>
              <a:t>Aim (la=6)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FF99"/>
                </a:solidFill>
                <a:latin typeface="Microsoft JhengHei"/>
              </a:defRPr>
            </a:pPr>
            <a:r>
              <a:t>✅ 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666"/>
                </a:solidFill>
                <a:latin typeface="Microsoft JhengHei"/>
              </a:defRPr>
            </a:pPr>
            <a:r>
              <a:t>Actions (la=6, 舊)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99.5%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56.8%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6666"/>
                </a:solidFill>
                <a:latin typeface="Microsoft JhengHei"/>
              </a:defRPr>
            </a:pPr>
            <a:r>
              <a:t>❌ 過擬合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D55"/>
                </a:solidFill>
                <a:latin typeface="Microsoft JhengHei"/>
              </a:defRPr>
            </a:pPr>
            <a:r>
              <a:t>Actions (la=2, 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D55"/>
                </a:solidFill>
                <a:latin typeface="Microsoft JhengHei"/>
              </a:defRPr>
            </a:pPr>
            <a:r>
              <a:t>⬆️ 改善中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44"/>
                </a:solidFill>
                <a:latin typeface="Microsoft JhengHei"/>
              </a:defRPr>
            </a:pPr>
            <a:r>
              <a:t>Combined (la=3)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557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557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57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~30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557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AA44"/>
                </a:solidFill>
                <a:latin typeface="Microsoft JhengHei"/>
              </a:defRPr>
            </a:pPr>
            <a:r>
              <a:t>⚠️ 按鍵弱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66"/>
                </a:solidFill>
                <a:latin typeface="Microsoft JhengHei"/>
              </a:defRPr>
            </a:pPr>
            <a:r>
              <a:t>🔍 發現的核心問題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29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DD55"/>
                </a:solidFill>
                <a:latin typeface="Microsoft JhengHei"/>
              </a:defRPr>
            </a:pPr>
            <a:r>
              <a:t>訓練準確度有 60-70%</a:t>
            </a:r>
          </a:p>
          <a:p>
            <a:pPr>
              <a:spcAft>
                <a:spcPts val="600"/>
              </a:spcAft>
              <a:defRPr sz="1600">
                <a:solidFill>
                  <a:srgbClr val="FFDD55"/>
                </a:solidFill>
                <a:latin typeface="Microsoft JhengHei"/>
              </a:defRPr>
            </a:pPr>
            <a:r>
              <a:t>但實際上機遊戲表現很差</a:t>
            </a:r>
          </a:p>
          <a:p>
            <a:pPr>
              <a:spcAft>
                <a:spcPts val="600"/>
              </a:spcAft>
              <a:defRPr sz="1600">
                <a:solidFill>
                  <a:srgbClr val="FFDD55"/>
                </a:solidFill>
                <a:latin typeface="Microsoft JhengHei"/>
              </a:defRPr>
            </a:pPr>
            <a:r>
              <a:t>看不出來有這個準確度</a:t>
            </a:r>
          </a:p>
          <a:p>
            <a:pPr>
              <a:spcAft>
                <a:spcPts val="600"/>
              </a:spcAft>
              <a:defRPr sz="1600">
                <a:solidFill>
                  <a:srgbClr val="FFDD55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DD55"/>
                </a:solidFill>
                <a:latin typeface="Microsoft JhengHei"/>
              </a:defRPr>
            </a:pPr>
            <a:r>
              <a:t>→ 正在找原因中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3891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44"/>
                </a:solidFill>
                <a:latin typeface="Microsoft JhengHei"/>
              </a:defRPr>
            </a:pPr>
            <a:r>
              <a:t>📋 懷疑的原因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1. Lookahead 還需微調最佳值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2. Combined 的 MSE Loss 不適合分類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3. 過採樣造成訓練 bias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4. 驗證集 Acc 不等於實際遊戲 Acc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5. 資料量/多樣性不足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6AA"/>
                </a:solidFill>
                <a:latin typeface="Microsoft JhengHei"/>
              </a:defRPr>
            </a:pPr>
            <a:r>
              <a:t>下一步計畫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FF"/>
                </a:solidFill>
                <a:latin typeface="Microsoft JhengHei"/>
              </a:defRPr>
            </a:pPr>
            <a:r>
              <a:t>模型改進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57400"/>
            <a:ext cx="2743200" cy="18288"/>
          </a:xfrm>
          <a:prstGeom prst="rect">
            <a:avLst/>
          </a:prstGeom>
          <a:solidFill>
            <a:srgbClr val="66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Combined 改用 BCE Loss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處理按鍵分類任務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嘗試更大骨幹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(EfficientNet-B2)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加入 Attention 機制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聚焦圓圈區域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A44"/>
                </a:solidFill>
                <a:latin typeface="Microsoft JhengHei"/>
              </a:defRPr>
            </a:pPr>
            <a:r>
              <a:t>調查表現落差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57400"/>
            <a:ext cx="2743200" cy="18288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分析推理時的實際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輸出 vs 訓練時預測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錄製推理過程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與真實操作對比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驗證 lookahead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的最佳數值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FF99"/>
                </a:solidFill>
                <a:latin typeface="Microsoft JhengHei"/>
              </a:defRPr>
            </a:pPr>
            <a:r>
              <a:t>資料改進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57400"/>
            <a:ext cx="2743200" cy="18288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收集更多不同星級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的訓練資料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確保資料品質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(避免錯誤標註)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嘗試 Data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  Augmentation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AA"/>
                </a:solidFill>
                <a:latin typeface="Microsoft JhengHei"/>
              </a:defRPr>
            </a:pPr>
            <a:r>
              <a:t>本次進度總結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FF99"/>
                </a:solidFill>
                <a:latin typeface="Microsoft JhengHei"/>
              </a:defRPr>
            </a:pPr>
            <a:r>
              <a:t>✅ OOM 修復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10GB → 2GB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FF99"/>
                </a:solidFill>
                <a:latin typeface="Microsoft JhengHei"/>
              </a:defRPr>
            </a:pPr>
            <a:r>
              <a:t>✅ 分模型 Lookahead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Actions 56→65%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FF99"/>
                </a:solidFill>
                <a:latin typeface="Microsoft JhengHei"/>
              </a:defRPr>
            </a:pPr>
            <a:r>
              <a:t>✅ DualEvalThread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19→21 FPS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D55"/>
                </a:solidFill>
                <a:latin typeface="Microsoft JhengHei"/>
              </a:defRPr>
            </a:pPr>
            <a:r>
              <a:t>🔄 表現落差調查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進行中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6AA"/>
                </a:solidFill>
                <a:latin typeface="Microsoft Jheng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AutoPlayOSU!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389120"/>
            <a:ext cx="3017520" cy="36576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